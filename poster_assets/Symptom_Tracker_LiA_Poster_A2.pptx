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5119350" cy="21383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50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5120000" cy="21384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120000" cy="1944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944000"/>
            <a:ext cx="15120000" cy="792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0000" y="144000"/>
            <a:ext cx="11448000" cy="576000"/>
          </a:xfrm>
          <a:prstGeom prst="rect">
            <a:avLst/>
          </a:prstGeom>
          <a:noFill/>
        </p:spPr>
        <p:txBody>
          <a:bodyPr wrap="square" lIns="57600" tIns="28800" rIns="57600" bIns="2880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SYMPTOM TRACKER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720000"/>
            <a:ext cx="11448000" cy="360000"/>
          </a:xfrm>
          <a:prstGeom prst="rect">
            <a:avLst/>
          </a:prstGeom>
          <a:noFill/>
        </p:spPr>
        <p:txBody>
          <a:bodyPr wrap="square" lIns="57600" tIns="28800" rIns="57600" bIns="2880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CFBF1"/>
                </a:solidFill>
                <a:latin typeface="Calibri"/>
              </a:rPr>
              <a:t>A co-produced portable pain-event recorder for accessible symptom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116000"/>
            <a:ext cx="11448000" cy="324000"/>
          </a:xfrm>
          <a:prstGeom prst="rect">
            <a:avLst/>
          </a:prstGeom>
          <a:noFill/>
        </p:spPr>
        <p:txBody>
          <a:bodyPr wrap="square" lIns="57600" tIns="28800" rIns="57600" bIns="2880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Chuqing (Tracy) Tang  |  Department of Engineering, University of Cambridge  |  Murray Edwards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1476000"/>
            <a:ext cx="11448000" cy="360000"/>
          </a:xfrm>
          <a:prstGeom prst="rect">
            <a:avLst/>
          </a:prstGeom>
          <a:noFill/>
        </p:spPr>
        <p:txBody>
          <a:bodyPr wrap="square" lIns="57600" tIns="28800" rIns="57600" bIns="2880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CFBF1"/>
                </a:solidFill>
                <a:latin typeface="Calibri"/>
              </a:rPr>
              <a:t>Leadership in Action  |  July-August 2026  |  Supervisor: Vicky Gildersleve (Papworth Trust Cambridge Manager)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24000" y="216000"/>
            <a:ext cx="1296000" cy="720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2132000" y="324000"/>
            <a:ext cx="1080000" cy="5040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Laidlaw logo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464000" y="216000"/>
            <a:ext cx="1296000" cy="720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572000" y="324000"/>
            <a:ext cx="1080000" cy="5040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Papworth logo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24000" y="1008000"/>
            <a:ext cx="2736000" cy="792000"/>
          </a:xfrm>
          <a:prstGeom prst="rect">
            <a:avLst/>
          </a:prstGeom>
          <a:noFill/>
        </p:spPr>
        <p:txBody>
          <a:bodyPr wrap="square" lIns="57600" tIns="28800" rIns="57600" bIns="28800" anchor="t"/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LiA poster  |  SMART outcomes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CFBF1"/>
                </a:solidFill>
                <a:latin typeface="Calibri"/>
              </a:rPr>
              <a:t>UNESCO SDG 10  |  Reduced Inequalities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0000" y="2232000"/>
            <a:ext cx="4656000" cy="30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2000" y="2253600"/>
            <a:ext cx="4512000" cy="2664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1   NEED AND USER RESEARCH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0000" y="2538000"/>
            <a:ext cx="4656000" cy="2808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0000" y="2538000"/>
            <a:ext cx="4656000" cy="2808000"/>
          </a:xfrm>
          <a:prstGeom prst="rect">
            <a:avLst/>
          </a:prstGeom>
          <a:noFill/>
        </p:spPr>
        <p:txBody>
          <a:bodyPr wrap="square" lIns="86400" tIns="72000" rIns="86400" bIns="720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Context (Papworth Trust co-production)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Episodic pain is hard to remember and describe later. For many adults with learning disabilities, opening a dense health app and typing during an episode is unrealistic.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Discovery method (Weeks 1-2)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Joined routine activities; observed recurring support needs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Spoke with service users, staff, and caregivers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Field checklist: independence, participation, confidence, safety, staff workload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Separated isolated incidents from recurring patterns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5E59"/>
                </a:solidFill>
                <a:latin typeface="Calibri"/>
              </a:rPr>
              <a:t>Design brief: </a:t>
            </a:r>
            <a:r>
              <a:rPr sz="1100" b="0">
                <a:solidFill>
                  <a:srgbClr val="334155"/>
                </a:solidFill>
                <a:latin typeface="Calibri"/>
              </a:rPr>
              <a:t>record the moment with a physical squeeze; review it digitally later. Reduce reliance on memory, language load, and complex UI.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0000" y="5418000"/>
            <a:ext cx="4656000" cy="1368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8000" y="5850000"/>
            <a:ext cx="4440000" cy="5040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IMAGE: field checklist / needs research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0000" y="6894000"/>
            <a:ext cx="4656000" cy="30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32000" y="6915600"/>
            <a:ext cx="4512000" cy="2664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2   ENGINEERING APPROACH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0000" y="7200000"/>
            <a:ext cx="4656000" cy="12672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0000" y="7200000"/>
            <a:ext cx="4656000" cy="12672000"/>
          </a:xfrm>
          <a:prstGeom prst="rect">
            <a:avLst/>
          </a:prstGeom>
          <a:noFill/>
        </p:spPr>
        <p:txBody>
          <a:bodyPr wrap="square" lIns="86400" tIns="72000" rIns="86400" bIns="720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115E59"/>
                </a:solidFill>
                <a:latin typeface="Calibri"/>
              </a:rPr>
              <a:t>User research set the architecture, not the reverse.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Sensing and event model (ESP32)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FSR406 to ADC, with debounce and a press / release state machine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Stores a pressure-time curve, not only a peak value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Non-blocking haptic PWM so motor intensity follows force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Offline event queue on device storage when BLE is absent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BLE sync (final solution)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Queued episodes transfer on reconnect. The app claims each device event key before insert, so one press becomes one timeline row (no duplicate ends).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Calibration (person-specific, practical)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A three-step weak / medium / strong map turns raw ADC into 0-100% relative force for that person, so readings stay meaningful across grip strength and mounting differences.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Hardware path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Breadboard (LED stand-in for motor) to stripboard (driver, diode, power integrity) to SolidWorks enclosure shaped around thumb access and distinct SOS / REC controls.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2000" y="2232000"/>
            <a:ext cx="4656000" cy="30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4000" y="2253600"/>
            <a:ext cx="4512000" cy="2664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3   SYSTEM OVERVIEW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32000" y="2538000"/>
            <a:ext cx="4656000" cy="1728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40000" y="3150000"/>
            <a:ext cx="4440000" cy="5040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IMAGE: architecture  device / BLE / Flutter app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232000" y="4338000"/>
            <a:ext cx="4656000" cy="30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304000" y="4359600"/>
            <a:ext cx="4512000" cy="2664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4   HARDWARE AND IMPLEMENTATION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32000" y="4644000"/>
            <a:ext cx="4656000" cy="2232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232000" y="4644000"/>
            <a:ext cx="4656000" cy="2232000"/>
          </a:xfrm>
          <a:prstGeom prst="rect">
            <a:avLst/>
          </a:prstGeom>
          <a:noFill/>
        </p:spPr>
        <p:txBody>
          <a:bodyPr wrap="square" lIns="86400" tIns="72000" rIns="86400" bIns="720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Stack: ESP32, FSR406, vibration motor (transistor + flyback), SOS / REC, status LED, optional INMP441 voice note, TP4056 battery path.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Integration lessons (engineering validity)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Stripboard copper shorts can couple SOS and REC despite correct firmware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Motor load needs proper drive and bulk capacitance (battery brownout)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Silent WAV files: intermittent I2S clock / microphone slot config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Enclosure deformation can open joints: treat mechanics and electronics as one system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32000" y="6948000"/>
            <a:ext cx="4656000" cy="1512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40000" y="7452000"/>
            <a:ext cx="4440000" cy="5040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IMAGE: stripboard / assembled device / CAD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232000" y="8568000"/>
            <a:ext cx="4656000" cy="30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304000" y="8589600"/>
            <a:ext cx="4512000" cy="2664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5   ACCESSIBLE MODE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32000" y="8874000"/>
            <a:ext cx="4656000" cy="2592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32000" y="8874000"/>
            <a:ext cx="4656000" cy="2592000"/>
          </a:xfrm>
          <a:prstGeom prst="rect">
            <a:avLst/>
          </a:prstGeom>
          <a:noFill/>
        </p:spPr>
        <p:txBody>
          <a:bodyPr wrap="square" lIns="86400" tIns="72000" rIns="86400" bIns="720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15E59"/>
                </a:solidFill>
                <a:latin typeface="Calibri"/>
              </a:rPr>
              <a:t>Designed from centre feedback, not added as a theme toggle afterwards.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Service-user layer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Larger targets and type; Home and Timeline only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- 2 x 2 action grid; four picture tags (meal, exercise, sleep, medication)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SOS is a long-press, to reduce accidental alerts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Caregiver layer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Full settings remain available: calibration, vibration modes, curves, stats, labels, and Guardian / SOS options.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5E59"/>
                </a:solidFill>
                <a:latin typeface="Calibri"/>
              </a:rPr>
              <a:t>Principle: </a:t>
            </a:r>
            <a:r>
              <a:rPr sz="1100" b="0">
                <a:solidFill>
                  <a:srgbClr val="334155"/>
                </a:solidFill>
                <a:latin typeface="Calibri"/>
              </a:rPr>
              <a:t>people should not have to adapt themselves to an interface that was never designed around their needs.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32000" y="11538000"/>
            <a:ext cx="4656000" cy="8334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340000" y="15453000"/>
            <a:ext cx="4440000" cy="5040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IMAGE: Accessible Mode UI (Home grid / tags)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04000" y="2232000"/>
            <a:ext cx="4656000" cy="30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76000" y="2253600"/>
            <a:ext cx="4512000" cy="2664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6   EVALUATION (USABILITY)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104000" y="2538000"/>
            <a:ext cx="4656000" cy="2448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0104000" y="2538000"/>
            <a:ext cx="4656000" cy="2448000"/>
          </a:xfrm>
          <a:prstGeom prst="rect">
            <a:avLst/>
          </a:prstGeom>
          <a:noFill/>
        </p:spPr>
        <p:txBody>
          <a:bodyPr wrap="square" lIns="86400" tIns="72000" rIns="86400" bIns="720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115E59"/>
                </a:solidFill>
                <a:latin typeface="Calibri"/>
              </a:rPr>
              <a:t>Scope: usability and engineering validation. No clinical-efficacy claims.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Protocol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Day 1 formative: observe first; explain only when needed; log critical / major issues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Prioritise fixes with a rationale; avoid adding features for every comment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134E4A"/>
                </a:solidFill>
                <a:latin typeface="Calibri"/>
              </a:rPr>
              <a:t>- Day 2: repeat the same core tasks and check clarity / reliability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15E59"/>
                </a:solidFill>
                <a:latin typeface="Calibri"/>
              </a:rPr>
              <a:t>Questions: </a:t>
            </a:r>
            <a:r>
              <a:rPr sz="1100" b="0">
                <a:solidFill>
                  <a:srgbClr val="334155"/>
                </a:solidFill>
                <a:latin typeface="Calibri"/>
              </a:rPr>
              <a:t>minimal instruction? light vs strong presses? short vs long events? BLE workflow? can staff read the history?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5E59"/>
                </a:solidFill>
                <a:latin typeface="Calibri"/>
              </a:rPr>
              <a:t>Observed split: </a:t>
            </a:r>
            <a:r>
              <a:rPr sz="1100" b="0">
                <a:solidFill>
                  <a:srgbClr val="334155"/>
                </a:solidFill>
                <a:latin typeface="Calibri"/>
              </a:rPr>
              <a:t>users needed large targets, few choices, and physical feedback; staff needed time, duration, intensity, patterns, and one trustworthy row per press.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04000" y="5058000"/>
            <a:ext cx="4656000" cy="1296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0212000" y="5454000"/>
            <a:ext cx="4440000" cy="5040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IMAGE: app UI / Accessible Mode / test checklist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0104000" y="6462000"/>
            <a:ext cx="4656000" cy="30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176000" y="6483600"/>
            <a:ext cx="4512000" cy="2664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7   SMART GOALS TO OUTCOMES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104000" y="6768000"/>
            <a:ext cx="4656000" cy="2808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104000" y="6768000"/>
            <a:ext cx="4656000" cy="2808000"/>
          </a:xfrm>
          <a:prstGeom prst="rect">
            <a:avLst/>
          </a:prstGeom>
          <a:noFill/>
        </p:spPr>
        <p:txBody>
          <a:bodyPr wrap="square" lIns="86400" tIns="72000" rIns="86400" bIns="720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G1  Needs discovery (Weeks 1-2)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S/M: field checklist and a written problem brief (physical record, digital review). Outcome: a focused TEAL brief on discomfort-communication barriers.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G2  Working prototype (Weeks 2-5)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S/M: handheld ESP32 device and Flutter app with curve capture, offline queue, BLE sync, calibration, and Accessible Mode. Outcome: an end-to-end demo loop before the final week.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15E59"/>
                </a:solidFill>
                <a:latin typeface="Calibri"/>
              </a:rPr>
              <a:t>G3  Validation and sharing (Weeks 5-6)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S/M: Day 1 / fix / Day 2 notes; LiA poster on the Network with SMART and SDG reporting. Outcome: documented feedback and an open repository.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15E59"/>
                </a:solidFill>
                <a:latin typeface="Calibri"/>
              </a:rPr>
              <a:t>A / R / T: scoped to six weeks with Papworth priorities; milestones tracked from midpoint check-in to the final demo (August 2026).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104000" y="9648000"/>
            <a:ext cx="4656000" cy="306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176000" y="9669600"/>
            <a:ext cx="4512000" cy="2664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8   UNESCO SDG 10  REDUCED INEQUALITIES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04000" y="9954000"/>
            <a:ext cx="4656000" cy="991800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99F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10212000" y="10098000"/>
            <a:ext cx="792000" cy="792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320000" y="10242000"/>
            <a:ext cx="576000" cy="5040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SDG 10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040000" y="10026000"/>
            <a:ext cx="3648000" cy="9774000"/>
          </a:xfrm>
          <a:prstGeom prst="rect">
            <a:avLst/>
          </a:prstGeom>
          <a:noFill/>
        </p:spPr>
        <p:txBody>
          <a:bodyPr wrap="square" lIns="86400" tIns="72000" rIns="86400" bIns="720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115E59"/>
                </a:solidFill>
                <a:latin typeface="Calibri"/>
              </a:rPr>
              <a:t>Inequality is not only whether a service exists, but whether people can access, understand, and benefit from it.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34155"/>
                </a:solidFill>
                <a:latin typeface="Calibri"/>
              </a:rPr>
              <a:t>Symptom Tracker targets barriers of memory, language load, and digital confidence in symptom communication, so support and review are more equitable between service users and caregivers.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20088000"/>
            <a:ext cx="15120000" cy="1296000"/>
          </a:xfrm>
          <a:prstGeom prst="rect">
            <a:avLst/>
          </a:prstGeom>
          <a:solidFill>
            <a:srgbClr val="115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60000" y="20196000"/>
            <a:ext cx="9648000" cy="288000"/>
          </a:xfrm>
          <a:prstGeom prst="rect">
            <a:avLst/>
          </a:prstGeom>
          <a:noFill/>
        </p:spPr>
        <p:txBody>
          <a:bodyPr wrap="square" lIns="57600" tIns="28800" rIns="57600" bIns="2880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Co-produced with Papworth Trust  |  Murray Edwards College, University of Cambridge  |  Laidlaw Scholars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0000" y="20520000"/>
            <a:ext cx="9648000" cy="720000"/>
          </a:xfrm>
          <a:prstGeom prst="rect">
            <a:avLst/>
          </a:prstGeom>
          <a:noFill/>
        </p:spPr>
        <p:txBody>
          <a:bodyPr wrap="square" lIns="57600" tIns="28800" rIns="57600" bIns="28800" anchor="t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CCFBF1"/>
                </a:solidFill>
                <a:latin typeface="Calibri"/>
              </a:rPr>
              <a:t>Acknowledgements: service users, staff, and caregivers at Papworth Trust. Code: github.com/Tracytang-engi/Symptom_Tracker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52000" y="20268000"/>
            <a:ext cx="1008000" cy="936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260000" y="20484000"/>
            <a:ext cx="792000" cy="5040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Papworth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11268000" y="20268000"/>
            <a:ext cx="1008000" cy="936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1376000" y="20484000"/>
            <a:ext cx="792000" cy="5040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Laidlaw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12384000" y="20268000"/>
            <a:ext cx="1008000" cy="936000"/>
          </a:xfrm>
          <a:prstGeom prst="roundRect">
            <a:avLst>
              <a:gd name="adj" fmla="val 6000"/>
            </a:avLst>
          </a:prstGeom>
          <a:solidFill>
            <a:srgbClr val="CCFBF1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2492000" y="20484000"/>
            <a:ext cx="792000" cy="504000"/>
          </a:xfrm>
          <a:prstGeom prst="rect">
            <a:avLst/>
          </a:prstGeom>
          <a:noFill/>
        </p:spPr>
        <p:txBody>
          <a:bodyPr wrap="square" lIns="57600" tIns="28800" rIns="57600" bIns="28800" anchor="ctr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766E"/>
                </a:solidFill>
                <a:latin typeface="Calibri"/>
              </a:rPr>
              <a:t>Cambridge</a:t>
            </a:r>
          </a:p>
        </p:txBody>
      </p:sp>
      <p:pic>
        <p:nvPicPr>
          <p:cNvPr id="65" name="Picture 64" descr="github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0000" y="20196000"/>
            <a:ext cx="1008000" cy="1008000"/>
          </a:xfrm>
          <a:prstGeom prst="rect">
            <a:avLst/>
          </a:prstGeom>
        </p:spPr>
      </p:pic>
      <p:sp>
        <p:nvSpPr>
          <p:cNvPr id="66" name="TextBox 65"/>
          <p:cNvSpPr txBox="1"/>
          <p:nvPr/>
        </p:nvSpPr>
        <p:spPr>
          <a:xfrm>
            <a:off x="13608000" y="21186000"/>
            <a:ext cx="1152000" cy="180000"/>
          </a:xfrm>
          <a:prstGeom prst="rect">
            <a:avLst/>
          </a:prstGeom>
          <a:noFill/>
        </p:spPr>
        <p:txBody>
          <a:bodyPr wrap="square" lIns="57600" tIns="28800" rIns="57600" bIns="28800" anchor="t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DD4BF"/>
                </a:solidFill>
                <a:latin typeface="Calibri"/>
              </a:rPr>
              <a:t>GitHub 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957</Words>
  <Application>Microsoft Office PowerPoint</Application>
  <PresentationFormat>自定义</PresentationFormat>
  <Paragraphs>78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Chuqing Tang</cp:lastModifiedBy>
  <cp:revision>1</cp:revision>
  <dcterms:created xsi:type="dcterms:W3CDTF">2013-01-27T09:14:16Z</dcterms:created>
  <dcterms:modified xsi:type="dcterms:W3CDTF">2026-08-30T08:58:43Z</dcterms:modified>
  <cp:category/>
</cp:coreProperties>
</file>